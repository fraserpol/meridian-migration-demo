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ab3d3c6b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g3fab3d3c6b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ab3d3c6b9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VERCEL SOLUTION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Meridian Capital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Portfolio Watchlist App — Dev / QA / Staging Migration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3611880"/>
            <a:ext cx="8778240" cy="1417320"/>
          </a:xfrm>
          <a:prstGeom prst="roundRect">
            <a:avLst>
              <a:gd fmla="val 5161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22960" y="3611880"/>
            <a:ext cx="54864" cy="1417320"/>
          </a:xfrm>
          <a:prstGeom prst="roundRect">
            <a:avLst>
              <a:gd fmla="val 16667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143000" y="376732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IT owns compute, network, and provisioning end-to-end — ticket-gated environments and manual, hard-to-undo promotions are slowing releases and creating recurring audit findings.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6B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496BC"/>
                </a:solidFill>
                <a:latin typeface="Calibri"/>
                <a:ea typeface="Calibri"/>
                <a:cs typeface="Calibri"/>
                <a:sym typeface="Calibri"/>
              </a:rPr>
              <a:t>Prepared by Fraser Pollock, Solutions Architect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57200" y="384048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CURRENT STATE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658368"/>
            <a:ext cx="1115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Every Environment, Same Bottleneck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1261872"/>
            <a:ext cx="1115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One ticket queue and one long-lived secrets store sit in front of Dev, QA, Staging, and Production alike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2148840"/>
            <a:ext cx="2331600" cy="9144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7200" y="2148840"/>
            <a:ext cx="233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2715768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ticket-provisioned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816352" y="2551176"/>
            <a:ext cx="265200" cy="10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108960" y="2148840"/>
            <a:ext cx="2331600" cy="9144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108960" y="2148840"/>
            <a:ext cx="233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108960" y="2715768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ticket-provisioned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68112" y="2551176"/>
            <a:ext cx="265200" cy="10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760720" y="2148840"/>
            <a:ext cx="2331600" cy="9144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760720" y="2148840"/>
            <a:ext cx="233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760720" y="2715768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ticket-provisioned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119872" y="2551176"/>
            <a:ext cx="265200" cy="10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412480" y="2148840"/>
            <a:ext cx="2331600" cy="9144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412480" y="2148840"/>
            <a:ext cx="233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412480" y="2715768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ticket-provisioned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3429000"/>
            <a:ext cx="10287000" cy="777300"/>
          </a:xfrm>
          <a:prstGeom prst="roundRect">
            <a:avLst>
              <a:gd fmla="val 9412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" y="3429000"/>
            <a:ext cx="10287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Jenkins-style CI — manual, per-environment promotion (one at a time)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1623060" y="3063240"/>
            <a:ext cx="0" cy="3657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4"/>
          <p:cNvCxnSpPr/>
          <p:nvPr/>
        </p:nvCxnSpPr>
        <p:spPr>
          <a:xfrm>
            <a:off x="4274820" y="3063240"/>
            <a:ext cx="0" cy="3657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4"/>
          <p:cNvCxnSpPr/>
          <p:nvPr/>
        </p:nvCxnSpPr>
        <p:spPr>
          <a:xfrm>
            <a:off x="6926580" y="3063240"/>
            <a:ext cx="0" cy="3657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4"/>
          <p:cNvCxnSpPr/>
          <p:nvPr/>
        </p:nvCxnSpPr>
        <p:spPr>
          <a:xfrm>
            <a:off x="9578340" y="3063240"/>
            <a:ext cx="0" cy="3657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4"/>
          <p:cNvSpPr/>
          <p:nvPr/>
        </p:nvSpPr>
        <p:spPr>
          <a:xfrm>
            <a:off x="457200" y="4526280"/>
            <a:ext cx="5394900" cy="1051500"/>
          </a:xfrm>
          <a:prstGeom prst="roundRect">
            <a:avLst>
              <a:gd fmla="val 6957" name="adj"/>
            </a:avLst>
          </a:prstGeom>
          <a:solidFill>
            <a:srgbClr val="FBEFE3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85800" y="4636008"/>
            <a:ext cx="493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Secrets in CI vars / .env files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85800" y="4983480"/>
            <a:ext cx="493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Long-lived, manually rotated — or not at all. A standing SOC 2 / GLBA finding.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309360" y="4526280"/>
            <a:ext cx="5394900" cy="1051500"/>
          </a:xfrm>
          <a:prstGeom prst="roundRect">
            <a:avLst>
              <a:gd fmla="val 6957" name="adj"/>
            </a:avLst>
          </a:prstGeom>
          <a:solidFill>
            <a:srgbClr val="D8E6F7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537960" y="4636008"/>
            <a:ext cx="493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AWS RDS Postgres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537960" y="4983480"/>
            <a:ext cx="493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User profiles + watchlists — all four environments read/write the same system of record.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4"/>
          <p:cNvCxnSpPr/>
          <p:nvPr/>
        </p:nvCxnSpPr>
        <p:spPr>
          <a:xfrm>
            <a:off x="3154680" y="4206240"/>
            <a:ext cx="0" cy="3201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4"/>
          <p:cNvCxnSpPr/>
          <p:nvPr/>
        </p:nvCxnSpPr>
        <p:spPr>
          <a:xfrm>
            <a:off x="9006840" y="4206240"/>
            <a:ext cx="0" cy="3201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4"/>
          <p:cNvSpPr/>
          <p:nvPr/>
        </p:nvSpPr>
        <p:spPr>
          <a:xfrm>
            <a:off x="457200" y="651052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1338560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457200" y="384048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CURRENT STATE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658375"/>
            <a:ext cx="111558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Every Environment, Same Bottleneck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43575" y="1399479"/>
            <a:ext cx="2331600" cy="7539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43575" y="1399479"/>
            <a:ext cx="2331600" cy="753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3575" y="1866922"/>
            <a:ext cx="2331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Requests Change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902727" y="1731213"/>
            <a:ext cx="265200" cy="9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195335" y="1399479"/>
            <a:ext cx="2331600" cy="7539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195335" y="1399479"/>
            <a:ext cx="23316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 Operations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195335" y="1866922"/>
            <a:ext cx="2331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Initiates </a:t>
            </a:r>
            <a:r>
              <a:rPr lang="en-US" sz="950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554487" y="1731213"/>
            <a:ext cx="265200" cy="9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847095" y="1399479"/>
            <a:ext cx="2331600" cy="7539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847095" y="1399479"/>
            <a:ext cx="2331600" cy="75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Eng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847095" y="1866922"/>
            <a:ext cx="2331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Ticket Created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8206247" y="1731213"/>
            <a:ext cx="265200" cy="9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498855" y="1399479"/>
            <a:ext cx="2331600" cy="7539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498855" y="1399479"/>
            <a:ext cx="2331600" cy="75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Owner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498855" y="1866922"/>
            <a:ext cx="2331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Ticket Created</a:t>
            </a:r>
            <a:endParaRPr sz="950">
              <a:solidFill>
                <a:srgbClr val="C7D9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C7D9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3575" y="2454995"/>
            <a:ext cx="10287000" cy="640800"/>
          </a:xfrm>
          <a:prstGeom prst="roundRect">
            <a:avLst>
              <a:gd fmla="val 9412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43575" y="2454995"/>
            <a:ext cx="1028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Change Request Process (Jira)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4361195" y="2153419"/>
            <a:ext cx="0" cy="3015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5"/>
          <p:cNvCxnSpPr/>
          <p:nvPr/>
        </p:nvCxnSpPr>
        <p:spPr>
          <a:xfrm>
            <a:off x="7012955" y="2153419"/>
            <a:ext cx="0" cy="3015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5"/>
          <p:cNvCxnSpPr/>
          <p:nvPr/>
        </p:nvCxnSpPr>
        <p:spPr>
          <a:xfrm>
            <a:off x="9664715" y="2153419"/>
            <a:ext cx="0" cy="3015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195335" y="3397391"/>
            <a:ext cx="2331600" cy="7539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195335" y="3397391"/>
            <a:ext cx="23316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Deploys App Files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195335" y="3864834"/>
            <a:ext cx="2331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554487" y="3729125"/>
            <a:ext cx="265200" cy="9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847095" y="3397391"/>
            <a:ext cx="2331600" cy="7539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847095" y="3397391"/>
            <a:ext cx="2331600" cy="75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Updates Schema/Tables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847095" y="3864834"/>
            <a:ext cx="2331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Ticket Created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5"/>
          <p:cNvCxnSpPr/>
          <p:nvPr/>
        </p:nvCxnSpPr>
        <p:spPr>
          <a:xfrm>
            <a:off x="7012955" y="3088403"/>
            <a:ext cx="0" cy="3015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5"/>
          <p:cNvCxnSpPr/>
          <p:nvPr/>
        </p:nvCxnSpPr>
        <p:spPr>
          <a:xfrm>
            <a:off x="4361205" y="3088403"/>
            <a:ext cx="0" cy="3015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610675" y="4452870"/>
            <a:ext cx="10287000" cy="640800"/>
          </a:xfrm>
          <a:prstGeom prst="roundRect">
            <a:avLst>
              <a:gd fmla="val 9412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610675" y="4452870"/>
            <a:ext cx="1028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Tests Update / Update Change 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5"/>
          <p:cNvCxnSpPr/>
          <p:nvPr/>
        </p:nvCxnSpPr>
        <p:spPr>
          <a:xfrm>
            <a:off x="4428295" y="4151294"/>
            <a:ext cx="0" cy="3015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5"/>
          <p:cNvCxnSpPr/>
          <p:nvPr/>
        </p:nvCxnSpPr>
        <p:spPr>
          <a:xfrm>
            <a:off x="7080055" y="4151294"/>
            <a:ext cx="0" cy="3015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5"/>
          <p:cNvCxnSpPr/>
          <p:nvPr/>
        </p:nvCxnSpPr>
        <p:spPr>
          <a:xfrm>
            <a:off x="9664715" y="3152369"/>
            <a:ext cx="2400" cy="128310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/>
          <p:nvPr/>
        </p:nvSpPr>
        <p:spPr>
          <a:xfrm>
            <a:off x="610738" y="5425154"/>
            <a:ext cx="2331600" cy="7539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610738" y="5425154"/>
            <a:ext cx="2331600" cy="753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10738" y="5892597"/>
            <a:ext cx="2331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Validates Change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 flipH="1" rot="10800000">
            <a:off x="2922584" y="5756788"/>
            <a:ext cx="5529000" cy="9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566018" y="5425154"/>
            <a:ext cx="2331600" cy="753900"/>
          </a:xfrm>
          <a:prstGeom prst="roundRect">
            <a:avLst>
              <a:gd fmla="val 8000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8566018" y="5425154"/>
            <a:ext cx="2331600" cy="75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Owner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566013" y="5892597"/>
            <a:ext cx="2331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Validates Change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Where It Hurts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Three concrete costs of the current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2057400"/>
            <a:ext cx="3520440" cy="3703320"/>
          </a:xfrm>
          <a:prstGeom prst="roundRect">
            <a:avLst>
              <a:gd fmla="val 2078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777240" y="2423160"/>
            <a:ext cx="914400" cy="914400"/>
          </a:xfrm>
          <a:prstGeom prst="roundRect">
            <a:avLst>
              <a:gd fmla="val 5000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77240" y="24231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77240" y="356616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Days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77240" y="425196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Environment Provisioning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77240" y="4663440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Spinning up or resizing Dev/QA/Staging goes through a ticket queue measured in days, not self-serve minutes.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297680" y="2057400"/>
            <a:ext cx="3520440" cy="3703320"/>
          </a:xfrm>
          <a:prstGeom prst="roundRect">
            <a:avLst>
              <a:gd fmla="val 2078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617720" y="2423160"/>
            <a:ext cx="914400" cy="914400"/>
          </a:xfrm>
          <a:prstGeom prst="roundRect">
            <a:avLst>
              <a:gd fmla="val 5000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617720" y="24231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617720" y="356616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30–60 min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617720" y="425196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Bad Promotion Recovery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617720" y="4663440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Rollback is a second manual deploy, not an instant switch — that's on-call time lost per incident.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138160" y="2057400"/>
            <a:ext cx="3520440" cy="3703320"/>
          </a:xfrm>
          <a:prstGeom prst="roundRect">
            <a:avLst>
              <a:gd fmla="val 2078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8458200" y="2423160"/>
            <a:ext cx="914400" cy="914400"/>
          </a:xfrm>
          <a:prstGeom prst="roundRect">
            <a:avLst>
              <a:gd fmla="val 5000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458200" y="24231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458200" y="356616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$0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458200" y="425196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 Cost Visibility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458200" y="4663440"/>
            <a:ext cx="2880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Finance and Compliance have no way to see what a model call costs or which provider served it — a hard blocker for any AI feature.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TARGET STATE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Preview Deployments + Secure Compute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Production stays on traditional IT for Phase 1 — Dev/QA/Staging move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7200" y="2103120"/>
            <a:ext cx="3200400" cy="777240"/>
          </a:xfrm>
          <a:prstGeom prst="roundRect">
            <a:avLst>
              <a:gd fmla="val 9412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685800" y="22219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85800" y="2514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git push → GitHub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3108960"/>
            <a:ext cx="3200400" cy="777240"/>
          </a:xfrm>
          <a:prstGeom prst="roundRect">
            <a:avLst>
              <a:gd fmla="val 9412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85800" y="32004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85800" y="347472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replaces Jenkins: lint, test, migration dry-run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7200" y="4114800"/>
            <a:ext cx="3200400" cy="777240"/>
          </a:xfrm>
          <a:prstGeom prst="roundRect">
            <a:avLst>
              <a:gd fmla="val 9412" name="adj"/>
            </a:avLst>
          </a:prstGeom>
          <a:solidFill>
            <a:srgbClr val="FBEFE3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8580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Legacy IT Admin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85800" y="448056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“how do we move the app tier?” → asks the Copilot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703320" y="2985516"/>
            <a:ext cx="457200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206240" y="2103120"/>
            <a:ext cx="3200400" cy="1874520"/>
          </a:xfrm>
          <a:prstGeom prst="roundRect">
            <a:avLst>
              <a:gd fmla="val 3902" name="adj"/>
            </a:avLst>
          </a:prstGeom>
          <a:solidFill>
            <a:srgbClr val="1B2A4A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434840" y="22311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434840" y="25054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 / QA / Staging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434840" y="2798064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Next.js App — login, profile, watchlist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7"/>
          <p:cNvCxnSpPr/>
          <p:nvPr/>
        </p:nvCxnSpPr>
        <p:spPr>
          <a:xfrm>
            <a:off x="4434840" y="3291840"/>
            <a:ext cx="2743200" cy="0"/>
          </a:xfrm>
          <a:prstGeom prst="straightConnector1">
            <a:avLst/>
          </a:prstGeom>
          <a:noFill/>
          <a:ln cap="flat" cmpd="sng" w="12700">
            <a:solidFill>
              <a:srgbClr val="3A4A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7"/>
          <p:cNvSpPr/>
          <p:nvPr/>
        </p:nvSpPr>
        <p:spPr>
          <a:xfrm>
            <a:off x="4434840" y="34015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Migration Copilot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434840" y="36758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AI SDK, streaming + tool calls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955280" y="2103120"/>
            <a:ext cx="3200400" cy="1874520"/>
          </a:xfrm>
          <a:prstGeom prst="roundRect">
            <a:avLst>
              <a:gd fmla="val 3902" name="adj"/>
            </a:avLst>
          </a:prstGeom>
          <a:solidFill>
            <a:srgbClr val="D8E6F7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183880" y="223113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MERIDIAN'S AWS VPC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183880" y="254203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RDS Postgres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183880" y="28529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Internal APIs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183880" y="31089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market data + route inventory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183880" y="341985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HCP Vault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8183880" y="36758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dynamic DB creds + app secrets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452360" y="2985516"/>
            <a:ext cx="457200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206240" y="408736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— Secure Compute: VPC peering 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7"/>
          <p:cNvCxnSpPr/>
          <p:nvPr/>
        </p:nvCxnSpPr>
        <p:spPr>
          <a:xfrm>
            <a:off x="5806440" y="3977640"/>
            <a:ext cx="0" cy="502920"/>
          </a:xfrm>
          <a:prstGeom prst="straightConnector1">
            <a:avLst/>
          </a:prstGeom>
          <a:noFill/>
          <a:ln cap="flat" cmpd="sng" w="15875">
            <a:solidFill>
              <a:srgbClr val="B9C6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7"/>
          <p:cNvSpPr/>
          <p:nvPr/>
        </p:nvSpPr>
        <p:spPr>
          <a:xfrm>
            <a:off x="4206240" y="4480560"/>
            <a:ext cx="3200400" cy="594360"/>
          </a:xfrm>
          <a:prstGeom prst="roundRect">
            <a:avLst>
              <a:gd fmla="val 12308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206240" y="448056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 Gateway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206240" y="5166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Primary provider → failover fallback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57200" y="5577840"/>
            <a:ext cx="10698480" cy="502920"/>
          </a:xfrm>
          <a:prstGeom prst="roundRect">
            <a:avLst>
              <a:gd fmla="val 14545" name="adj"/>
            </a:avLst>
          </a:prstGeom>
          <a:solidFill>
            <a:srgbClr val="F3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40080" y="55778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Phase 2 (future, gated on security review)  →  Production remains on traditional IT for 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THE TRUST BOUNDARY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Stays Outside Vercel — and Why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The most important architectural decision in this engagement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1965960"/>
            <a:ext cx="5440680" cy="1298448"/>
          </a:xfrm>
          <a:prstGeom prst="roundRect">
            <a:avLst>
              <a:gd fmla="val 5634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58368" y="2167128"/>
            <a:ext cx="365760" cy="365760"/>
          </a:xfrm>
          <a:prstGeom prst="roundRect">
            <a:avLst>
              <a:gd fmla="val 5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58368" y="21671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B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B3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188720" y="213055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RDS Postgres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188720" y="246888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User profiles, watchlists, positions — already compliant. Re-platforming the system of record is unnecessary risk for zero benefit.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263640" y="1965960"/>
            <a:ext cx="5440680" cy="1298448"/>
          </a:xfrm>
          <a:prstGeom prst="roundRect">
            <a:avLst>
              <a:gd fmla="val 5634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464808" y="2167128"/>
            <a:ext cx="365760" cy="365760"/>
          </a:xfrm>
          <a:prstGeom prst="roundRect">
            <a:avLst>
              <a:gd fmla="val 5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6464808" y="21671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B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B3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995160" y="213055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HCP Vault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995160" y="246888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Meridian's existing, audited secrets control plane. Vercel becomes a consumer via short-lived dynamic credentials — it does not replace Vault.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3401568"/>
            <a:ext cx="5440680" cy="1298448"/>
          </a:xfrm>
          <a:prstGeom prst="roundRect">
            <a:avLst>
              <a:gd fmla="val 5634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58368" y="3602736"/>
            <a:ext cx="365760" cy="365760"/>
          </a:xfrm>
          <a:prstGeom prst="roundRect">
            <a:avLst>
              <a:gd fmla="val 5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58368" y="36027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B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B3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188720" y="35661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IdP (Okta / Azure AD)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188720" y="3904488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End-user login, MFA, conditional access, and audit logging investments are preserved untouched.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263640" y="3401568"/>
            <a:ext cx="5440680" cy="1298448"/>
          </a:xfrm>
          <a:prstGeom prst="roundRect">
            <a:avLst>
              <a:gd fmla="val 5634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464808" y="3602736"/>
            <a:ext cx="365760" cy="365760"/>
          </a:xfrm>
          <a:prstGeom prst="roundRect">
            <a:avLst>
              <a:gd fmla="val 5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464808" y="36027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B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B3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995160" y="35661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Environment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995160" y="3904488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Phase 1 proves the pattern in Dev/QA/Staging. The production trust boundary moves only after a Staging soak and a security review.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57200" y="4837176"/>
            <a:ext cx="5440680" cy="1298448"/>
          </a:xfrm>
          <a:prstGeom prst="roundRect">
            <a:avLst>
              <a:gd fmla="val 5634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58368" y="5038344"/>
            <a:ext cx="365760" cy="365760"/>
          </a:xfrm>
          <a:prstGeom prst="roundRect">
            <a:avLst>
              <a:gd fmla="val 5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58368" y="50383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B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B3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188720" y="500176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Data &amp; Core Banking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188720" y="5340096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Out of scope for this app; untouched.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263640" y="4837176"/>
            <a:ext cx="5440680" cy="1298448"/>
          </a:xfrm>
          <a:prstGeom prst="roundRect">
            <a:avLst>
              <a:gd fmla="val 5634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6464808" y="5038344"/>
            <a:ext cx="365760" cy="365760"/>
          </a:xfrm>
          <a:prstGeom prst="roundRect">
            <a:avLst>
              <a:gd fmla="val 50000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464808" y="50383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B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B3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995160" y="500176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 Checks (GitHub Actions)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995160" y="5340096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Verification only — lint, test, migration dry-run. Vercel's Git integration owns the actual deploy.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VERCEL PRIMITIVES CHOSEN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Three Primitives, One Trade-off Each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57200" y="1874520"/>
            <a:ext cx="3520440" cy="4160520"/>
          </a:xfrm>
          <a:prstGeom prst="roundRect">
            <a:avLst>
              <a:gd fmla="val 2078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57200" y="1874520"/>
            <a:ext cx="3520440" cy="457200"/>
          </a:xfrm>
          <a:prstGeom prst="roundRect">
            <a:avLst>
              <a:gd fmla="val 1600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57200" y="18745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REPLACE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31520" y="2496312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Preview Deployments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+ Rolling Releases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731520" y="3246120"/>
            <a:ext cx="29718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Every PR gets an immutable, isolated URL. QA/Staging become alias domains with gradual, percentage-based rollout and instant rollback.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9"/>
          <p:cNvCxnSpPr/>
          <p:nvPr/>
        </p:nvCxnSpPr>
        <p:spPr>
          <a:xfrm>
            <a:off x="731520" y="4754880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3DC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9"/>
          <p:cNvSpPr/>
          <p:nvPr/>
        </p:nvSpPr>
        <p:spPr>
          <a:xfrm>
            <a:off x="731520" y="487375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5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54A"/>
                </a:solidFill>
                <a:latin typeface="Calibri"/>
                <a:ea typeface="Calibri"/>
                <a:cs typeface="Calibri"/>
                <a:sym typeface="Calibri"/>
              </a:rPr>
              <a:t>TRADE-OFF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31520" y="5148072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Requires the app to tolerate two versions serving traffic simultaneously during the canary window.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297680" y="1874520"/>
            <a:ext cx="3520440" cy="4160520"/>
          </a:xfrm>
          <a:prstGeom prst="roundRect">
            <a:avLst>
              <a:gd fmla="val 2078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4297680" y="1874520"/>
            <a:ext cx="3520440" cy="457200"/>
          </a:xfrm>
          <a:prstGeom prst="roundRect">
            <a:avLst>
              <a:gd fmla="val 1600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297680" y="18745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AUGMENT · AI PRIMITIVE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572000" y="2496312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AI SDK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+ AI Gateway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572000" y="3246120"/>
            <a:ext cx="29718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The Migration Copilot — a chat surface for legacy IT admins that recommends an incremental migration strategy and generates the rewrite/rollback snippet.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9"/>
          <p:cNvCxnSpPr/>
          <p:nvPr/>
        </p:nvCxnSpPr>
        <p:spPr>
          <a:xfrm>
            <a:off x="4572000" y="4754880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3DC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9"/>
          <p:cNvSpPr/>
          <p:nvPr/>
        </p:nvSpPr>
        <p:spPr>
          <a:xfrm>
            <a:off x="4572000" y="487375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5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54A"/>
                </a:solidFill>
                <a:latin typeface="Calibri"/>
                <a:ea typeface="Calibri"/>
                <a:cs typeface="Calibri"/>
                <a:sym typeface="Calibri"/>
              </a:rPr>
              <a:t>TRADE-OFF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572000" y="5148072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Failover assumes comparable behavior across providers for tool-calling — needs a small eval set before it's trusted for cutover.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138160" y="1874520"/>
            <a:ext cx="3520440" cy="4160520"/>
          </a:xfrm>
          <a:prstGeom prst="roundRect">
            <a:avLst>
              <a:gd fmla="val 2078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8138160" y="1874520"/>
            <a:ext cx="3520440" cy="457200"/>
          </a:xfrm>
          <a:prstGeom prst="roundRect">
            <a:avLst>
              <a:gd fmla="val 1600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8138160" y="1874520"/>
            <a:ext cx="3520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8412480" y="2496312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Secure Compute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+ OIDC Federation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412480" y="3246120"/>
            <a:ext cx="29718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 private, static network path into Meridian's AWS VPC. AWS and HCP Vault trust short-lived Vercel-issued tokens instead of standing secrets.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9"/>
          <p:cNvCxnSpPr/>
          <p:nvPr/>
        </p:nvCxnSpPr>
        <p:spPr>
          <a:xfrm>
            <a:off x="8412480" y="4754880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3DC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9"/>
          <p:cNvSpPr/>
          <p:nvPr/>
        </p:nvSpPr>
        <p:spPr>
          <a:xfrm>
            <a:off x="8412480" y="4873752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54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9754A"/>
                </a:solidFill>
                <a:latin typeface="Calibri"/>
                <a:ea typeface="Calibri"/>
                <a:cs typeface="Calibri"/>
                <a:sym typeface="Calibri"/>
              </a:rPr>
              <a:t>TRADE-OFF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412480" y="5148072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Enterprise-tier feature with real cost and AWS-side VPC peering approval lead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SECURITY DEEP DIVE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How the Boundary Is Crossed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The 5-step OIDC walk — what Security will ask about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57200" y="196596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0"/>
          <p:cNvCxnSpPr/>
          <p:nvPr/>
        </p:nvCxnSpPr>
        <p:spPr>
          <a:xfrm>
            <a:off x="708660" y="2468880"/>
            <a:ext cx="0" cy="356616"/>
          </a:xfrm>
          <a:prstGeom prst="straightConnector1">
            <a:avLst/>
          </a:prstGeom>
          <a:noFill/>
          <a:ln cap="flat" cmpd="sng" w="19050">
            <a:solidFill>
              <a:srgbClr val="D3DC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9" name="Google Shape;269;p10"/>
          <p:cNvSpPr/>
          <p:nvPr/>
        </p:nvSpPr>
        <p:spPr>
          <a:xfrm>
            <a:off x="1188720" y="1947672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 short-lived, signed identity token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114800" y="1947672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On invocation, Vercel issues an OIDC token (VERCEL_OIDC_TOKEN) scoped to that project and environment. No Vercel Function ever holds a static AWS key or Vault token.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57200" y="2825496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457200" y="28254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0"/>
          <p:cNvCxnSpPr/>
          <p:nvPr/>
        </p:nvCxnSpPr>
        <p:spPr>
          <a:xfrm>
            <a:off x="708660" y="3328416"/>
            <a:ext cx="0" cy="356616"/>
          </a:xfrm>
          <a:prstGeom prst="straightConnector1">
            <a:avLst/>
          </a:prstGeom>
          <a:noFill/>
          <a:ln cap="flat" cmpd="sng" w="19050">
            <a:solidFill>
              <a:srgbClr val="D3DC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4" name="Google Shape;274;p10"/>
          <p:cNvSpPr/>
          <p:nvPr/>
        </p:nvSpPr>
        <p:spPr>
          <a:xfrm>
            <a:off x="1188720" y="280720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Vault trusts Vercel as an OIDC issuer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114800" y="2807208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HCP Vault's jwt auth method trusts Vercel the same way it would trust GitHub Actions or any external IdP. The token is exchanged for a short-lived Vault token.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3685032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457200" y="36850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0"/>
          <p:cNvCxnSpPr/>
          <p:nvPr/>
        </p:nvCxnSpPr>
        <p:spPr>
          <a:xfrm>
            <a:off x="708660" y="4187952"/>
            <a:ext cx="0" cy="356616"/>
          </a:xfrm>
          <a:prstGeom prst="straightConnector1">
            <a:avLst/>
          </a:prstGeom>
          <a:noFill/>
          <a:ln cap="flat" cmpd="sng" w="19050">
            <a:solidFill>
              <a:srgbClr val="D3DC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9" name="Google Shape;279;p10"/>
          <p:cNvSpPr/>
          <p:nvPr/>
        </p:nvSpPr>
        <p:spPr>
          <a:xfrm>
            <a:off x="1188720" y="3666744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 dynamic, TTL-bound credential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114800" y="3666744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The function reads a database credential from Vault's database secrets engine — never a standing password.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57200" y="4544568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457200" y="4544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708660" y="5047488"/>
            <a:ext cx="0" cy="356616"/>
          </a:xfrm>
          <a:prstGeom prst="straightConnector1">
            <a:avLst/>
          </a:prstGeom>
          <a:noFill/>
          <a:ln cap="flat" cmpd="sng" w="19050">
            <a:solidFill>
              <a:srgbClr val="D3DC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1188720" y="45262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 private network path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114800" y="4526280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Secure Compute gives Vercel a dedicated, isolated network with VPC peering into Meridian's AWS VPC — RDS and internal APIs are never exposed to the public internet.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57200" y="5404104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457200" y="54041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188720" y="5385816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The same pattern, reused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114800" y="5385816"/>
            <a:ext cx="7589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OIDC can also hand a function short-lived AWS credentials directly (AssumeRoleWithWebIdentity). The Migration Copilot's tool call rides this same path — read-only, never Production.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Rollout Plan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Dev / QA / Staging — Production is a deliberate, later Phase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57200" y="2286000"/>
            <a:ext cx="2084832" cy="2834640"/>
          </a:xfrm>
          <a:prstGeom prst="roundRect">
            <a:avLst>
              <a:gd fmla="val 3509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40080" y="251460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40080" y="3182112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Preview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40080" y="3584448"/>
            <a:ext cx="171907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5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Every PR gets a Preview Deployment wired to dev-scoped Vault credentials and a non-prod RDS schema over Secure Compute.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2560320" y="3648456"/>
            <a:ext cx="164592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2743200" y="2286000"/>
            <a:ext cx="2084832" cy="2834640"/>
          </a:xfrm>
          <a:prstGeom prst="roundRect">
            <a:avLst>
              <a:gd fmla="val 3509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2926080" y="251460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292608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2926080" y="3182112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Validation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2926080" y="3584448"/>
            <a:ext cx="171907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5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GitHub Actions runs lint / test / migration dry-run as a required check; merges auto-promote to the QA alias.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846320" y="3648456"/>
            <a:ext cx="164592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5029200" y="2286000"/>
            <a:ext cx="2084832" cy="2834640"/>
          </a:xfrm>
          <a:prstGeom prst="roundRect">
            <a:avLst>
              <a:gd fmla="val 3509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5212080" y="251460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521208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212080" y="3182112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Canary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5212080" y="3584448"/>
            <a:ext cx="171907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5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Staging promotion via Rolling Releases at a small traffic percentage (e.g. 10%) behind the Staging alias.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7132320" y="3648456"/>
            <a:ext cx="164592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7315200" y="2286000"/>
            <a:ext cx="2084832" cy="2834640"/>
          </a:xfrm>
          <a:prstGeom prst="roundRect">
            <a:avLst>
              <a:gd fmla="val 3509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7498080" y="251460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749808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7498080" y="3182112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Cutover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7498080" y="3584448"/>
            <a:ext cx="171907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5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Percentage increased to 100% once error rate, latency, and AI Gateway cost/quality metrics hold steady.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9418320" y="3648456"/>
            <a:ext cx="164592" cy="10972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A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9601200" y="2286000"/>
            <a:ext cx="2084832" cy="2834640"/>
          </a:xfrm>
          <a:prstGeom prst="roundRect">
            <a:avLst>
              <a:gd fmla="val 3509" name="adj"/>
            </a:avLst>
          </a:prstGeom>
          <a:solidFill>
            <a:srgbClr val="FBEFE3"/>
          </a:solidFill>
          <a:ln>
            <a:noFill/>
          </a:ln>
          <a:effectLst>
            <a:outerShdw blurRad="101600" rotWithShape="0" algn="bl" dir="5400000" dist="38100">
              <a:srgbClr val="0A112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9784080" y="251460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978408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9784080" y="3182112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Rollback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9784080" y="3584448"/>
            <a:ext cx="171907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53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Any regression triggers an instant rollback to the prior deployment — no rebuild, no redeploy, no ticket.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SUCCESS MEASURES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Baseline → Target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3383280" y="167335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7680960" y="167335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57200" y="2002536"/>
            <a:ext cx="11274552" cy="676656"/>
          </a:xfrm>
          <a:prstGeom prst="roundRect">
            <a:avLst>
              <a:gd fmla="val 10811" name="adj"/>
            </a:avLst>
          </a:prstGeom>
          <a:solidFill>
            <a:srgbClr val="F3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640080" y="2057400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Environment provisioning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3383280" y="2057400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Ticket queue (days)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7040880" y="2057400"/>
            <a:ext cx="548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7680960" y="2057400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Preview URL on git push (minutes)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640080" y="2807208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Secrets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3383280" y="2807208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Long-lived, manually rotated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7040880" y="2807208"/>
            <a:ext cx="548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7680960" y="2807208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Dynamic, TTL-bound — zero static DB secrets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457200" y="3502152"/>
            <a:ext cx="11274552" cy="676656"/>
          </a:xfrm>
          <a:prstGeom prst="roundRect">
            <a:avLst>
              <a:gd fmla="val 10811" name="adj"/>
            </a:avLst>
          </a:prstGeom>
          <a:solidFill>
            <a:srgbClr val="F3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640080" y="3557016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Rollback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3383280" y="3557016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Manual redeploy (~30–60 min)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7040880" y="3557016"/>
            <a:ext cx="548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7680960" y="3557016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Instant rollback to prior deployment (seconds)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40080" y="4306824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 spend visibility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3383280" y="4306824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7040880" y="4306824"/>
            <a:ext cx="548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7680960" y="4306824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Per-request / per-feature cost + token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57200" y="5001768"/>
            <a:ext cx="11274552" cy="676656"/>
          </a:xfrm>
          <a:prstGeom prst="roundRect">
            <a:avLst>
              <a:gd fmla="val 10811" name="adj"/>
            </a:avLst>
          </a:prstGeom>
          <a:solidFill>
            <a:srgbClr val="F3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640080" y="5056632"/>
            <a:ext cx="2560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Migration guidance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3383280" y="5056632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Tribal-knowledge cutover planning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7040880" y="5056632"/>
            <a:ext cx="548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7680960" y="5056632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AI-generated, reviewable rewrite/rollback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CANDOR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Risks — What I'd Say Before Kickoff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Said first, it's rigour. Said only when asked, it looks like it was hoped nobody would check.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457200" y="2148840"/>
            <a:ext cx="11274552" cy="1417320"/>
          </a:xfrm>
          <a:prstGeom prst="roundRect">
            <a:avLst>
              <a:gd fmla="val 5161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457200" y="2148840"/>
            <a:ext cx="73152" cy="1417320"/>
          </a:xfrm>
          <a:prstGeom prst="roundRect">
            <a:avLst>
              <a:gd fmla="val 16667" name="adj"/>
            </a:avLst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>
            <a:off x="777240" y="22860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UNPROMPTED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777240" y="2542032"/>
            <a:ext cx="10607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“The Vault-to-AWS peering is real and applied. The Vercel-to-AWS leg is what Secure Compute would provide, and it is not built here. Today the demo reaches both over the public internet with TLS and credential auth; Static IPs are the intermediate step if Enterprise isn't on the table.”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457200" y="3849624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713232" y="379476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Secure Compute + VPC peering has AWS-side approval steps and an Enterprise-plan cost — not a same-day setup.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457200" y="4306824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713232" y="425196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Rolling Releases assume backward-compatible changes during the canary window.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457200" y="4764024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713232" y="470916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AI Gateway failover needs a small regression/eval set before it's trusted beyond Dev/QA.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57200" y="5221224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713232" y="516636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Migration Copilot recommendations are only as good as the (currently mocked) legacy inventory.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457200" y="5678424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713232" y="562356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This design leaves Production on traditional IT — it doesn't solve Meridian's Production release pain yet.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BEFORE WE SCOPE PHASE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Discovery Questions Still Open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457200" y="214884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713232" y="214884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1234440" y="2276856"/>
            <a:ext cx="44348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the actual ZDR / PII / data-residency requirement for prompt content leaving the trust boundary?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6263640" y="214884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6519672" y="214884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7040880" y="2276856"/>
            <a:ext cx="44348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owns the RBAC model for who can promote to Staging or trigger a rollback in Vercel?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457200" y="329184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713232" y="329184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1234440" y="3419856"/>
            <a:ext cx="44348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the real connection-pooling budget for RDS at production scale?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6263640" y="329184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6519672" y="329184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7040880" y="3419856"/>
            <a:ext cx="44348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there a real CMDB or route-inventory system to wire the Migration Copilot to, beyond the mock?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457200" y="443484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713232" y="443484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1234440" y="4562856"/>
            <a:ext cx="44348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SIEM / Log Drain destination (Splunk / Datadog) should the audit trail land in?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263640" y="4434840"/>
            <a:ext cx="5440680" cy="960120"/>
          </a:xfrm>
          <a:prstGeom prst="roundRect">
            <a:avLst>
              <a:gd fmla="val 7619" name="adj"/>
            </a:avLst>
          </a:prstGeom>
          <a:solidFill>
            <a:srgbClr val="121B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6519672" y="443484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A93B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7040880" y="4562856"/>
            <a:ext cx="443484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SOC 2 / ISO 27001 / DPA documentation does procurement need to start review?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fmla="val 14545" name="adj"/>
            </a:avLst>
          </a:prstGeom>
          <a:solidFill>
            <a:srgbClr val="2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Next: the Phase 2 conversation on Production — gated on a successful Staging soak and a security review of this boundary under real traffic.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TECHNICAL APPENDIX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Reference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How Vercel, HCP Vault, and Meridian's AWS VPC compose across the trust boundary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457200" y="2240280"/>
            <a:ext cx="1783080" cy="640080"/>
          </a:xfrm>
          <a:prstGeom prst="roundRect">
            <a:avLst>
              <a:gd fmla="val 10000" name="adj"/>
            </a:avLst>
          </a:prstGeom>
          <a:solidFill>
            <a:srgbClr val="F3F6FB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603504" y="2313432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603504" y="2587752"/>
            <a:ext cx="1490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git push → 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457200" y="2971800"/>
            <a:ext cx="1783080" cy="640080"/>
          </a:xfrm>
          <a:prstGeom prst="roundRect">
            <a:avLst>
              <a:gd fmla="val 10000" name="adj"/>
            </a:avLst>
          </a:prstGeom>
          <a:solidFill>
            <a:srgbClr val="F3F6FB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603504" y="3044952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Existing IdP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603504" y="3319272"/>
            <a:ext cx="1490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Okta / Azure AD (SSO)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457200" y="3703320"/>
            <a:ext cx="1783080" cy="640080"/>
          </a:xfrm>
          <a:prstGeom prst="roundRect">
            <a:avLst>
              <a:gd fmla="val 10000" name="adj"/>
            </a:avLst>
          </a:prstGeom>
          <a:solidFill>
            <a:srgbClr val="FBEFE3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603504" y="3776472"/>
            <a:ext cx="1490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Legacy IT Admin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603504" y="4050792"/>
            <a:ext cx="1490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asks the Copilot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2514600" y="1874520"/>
            <a:ext cx="3794760" cy="3657600"/>
          </a:xfrm>
          <a:prstGeom prst="roundRect">
            <a:avLst>
              <a:gd fmla="val 2000" name="adj"/>
            </a:avLst>
          </a:prstGeom>
          <a:solidFill>
            <a:srgbClr val="F3F6FB"/>
          </a:solidFill>
          <a:ln cap="flat" cmpd="sng" w="15875">
            <a:solidFill>
              <a:srgbClr val="1B2A4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2660904" y="1737360"/>
            <a:ext cx="1481328" cy="274320"/>
          </a:xfrm>
          <a:prstGeom prst="roundRect">
            <a:avLst>
              <a:gd fmla="val 5000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2660904" y="1737360"/>
            <a:ext cx="14813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VERCEL PLATFORM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2743200" y="2240280"/>
            <a:ext cx="333756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2889504" y="2313432"/>
            <a:ext cx="3044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2889504" y="2587752"/>
            <a:ext cx="30449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lint · test · migration dry-run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2743200" y="2862072"/>
            <a:ext cx="333756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2889504" y="2935224"/>
            <a:ext cx="3044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Next.js App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2889504" y="3209544"/>
            <a:ext cx="30449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Dev / QA / Staging — login, profile, watchlist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2743200" y="3483864"/>
            <a:ext cx="333756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2889504" y="3557016"/>
            <a:ext cx="3044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Migration Copilot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2889504" y="3831336"/>
            <a:ext cx="30449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AI SDK — streaming + tool calls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2743200" y="4105656"/>
            <a:ext cx="3337560" cy="530352"/>
          </a:xfrm>
          <a:prstGeom prst="roundRect">
            <a:avLst>
              <a:gd fmla="val 12069" name="adj"/>
            </a:avLst>
          </a:prstGeom>
          <a:solidFill>
            <a:srgbClr val="0A1120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2889504" y="4178808"/>
            <a:ext cx="3044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Gateway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2889504" y="4453128"/>
            <a:ext cx="304495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9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7D9F2"/>
                </a:solidFill>
                <a:latin typeface="Calibri"/>
                <a:ea typeface="Calibri"/>
                <a:cs typeface="Calibri"/>
                <a:sym typeface="Calibri"/>
              </a:rPr>
              <a:t>provider routing · cost + token metering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2743200" y="4754880"/>
            <a:ext cx="1572768" cy="457200"/>
          </a:xfrm>
          <a:prstGeom prst="roundRect">
            <a:avLst>
              <a:gd fmla="val 14000" name="adj"/>
            </a:avLst>
          </a:prstGeom>
          <a:solidFill>
            <a:srgbClr val="D8E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2889504" y="47548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Primary Provider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4507992" y="4754880"/>
            <a:ext cx="1572768" cy="457200"/>
          </a:xfrm>
          <a:prstGeom prst="roundRect">
            <a:avLst>
              <a:gd fmla="val 14000" name="adj"/>
            </a:avLst>
          </a:prstGeom>
          <a:solidFill>
            <a:srgbClr val="D8E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4654296" y="47548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Fallback Provider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15"/>
          <p:cNvCxnSpPr/>
          <p:nvPr/>
        </p:nvCxnSpPr>
        <p:spPr>
          <a:xfrm>
            <a:off x="3529584" y="4636008"/>
            <a:ext cx="0" cy="118872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15"/>
          <p:cNvCxnSpPr/>
          <p:nvPr/>
        </p:nvCxnSpPr>
        <p:spPr>
          <a:xfrm>
            <a:off x="4443984" y="4636008"/>
            <a:ext cx="850392" cy="118872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15"/>
          <p:cNvCxnSpPr/>
          <p:nvPr/>
        </p:nvCxnSpPr>
        <p:spPr>
          <a:xfrm flipH="1" rot="10800000">
            <a:off x="2240280" y="2505456"/>
            <a:ext cx="502920" cy="54864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15"/>
          <p:cNvCxnSpPr/>
          <p:nvPr/>
        </p:nvCxnSpPr>
        <p:spPr>
          <a:xfrm flipH="1" rot="10800000">
            <a:off x="2240280" y="3127248"/>
            <a:ext cx="502920" cy="164592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15"/>
          <p:cNvCxnSpPr/>
          <p:nvPr/>
        </p:nvCxnSpPr>
        <p:spPr>
          <a:xfrm flipH="1" rot="10800000">
            <a:off x="2240280" y="3749040"/>
            <a:ext cx="502920" cy="27432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6" name="Google Shape;456;p15"/>
          <p:cNvSpPr/>
          <p:nvPr/>
        </p:nvSpPr>
        <p:spPr>
          <a:xfrm>
            <a:off x="6720840" y="2514600"/>
            <a:ext cx="1965960" cy="1234440"/>
          </a:xfrm>
          <a:prstGeom prst="roundRect">
            <a:avLst>
              <a:gd fmla="val 5926" name="adj"/>
            </a:avLst>
          </a:prstGeom>
          <a:solidFill>
            <a:srgbClr val="F3F6FB"/>
          </a:solidFill>
          <a:ln cap="flat" cmpd="sng" w="15875">
            <a:solidFill>
              <a:srgbClr val="1B2A4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6867144" y="2377440"/>
            <a:ext cx="998525" cy="274320"/>
          </a:xfrm>
          <a:prstGeom prst="roundRect">
            <a:avLst>
              <a:gd fmla="val 50000" name="adj"/>
            </a:avLst>
          </a:prstGeom>
          <a:solidFill>
            <a:srgbClr val="B8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6867144" y="2377440"/>
            <a:ext cx="99852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HCP VAULT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6858000" y="2880360"/>
            <a:ext cx="1691640" cy="68580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7004304" y="2953512"/>
            <a:ext cx="1399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Vault Dedicated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7004304" y="3227832"/>
            <a:ext cx="139903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9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791F"/>
                </a:solidFill>
                <a:latin typeface="Calibri"/>
                <a:ea typeface="Calibri"/>
                <a:cs typeface="Calibri"/>
                <a:sym typeface="Calibri"/>
              </a:rPr>
              <a:t>dynamic DB creds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91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8791F"/>
                </a:solidFill>
                <a:latin typeface="Calibri"/>
                <a:ea typeface="Calibri"/>
                <a:cs typeface="Calibri"/>
                <a:sym typeface="Calibri"/>
              </a:rPr>
              <a:t>+ app secrets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p15"/>
          <p:cNvCxnSpPr/>
          <p:nvPr/>
        </p:nvCxnSpPr>
        <p:spPr>
          <a:xfrm>
            <a:off x="6309360" y="310896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3" name="Google Shape;463;p15"/>
          <p:cNvSpPr/>
          <p:nvPr/>
        </p:nvSpPr>
        <p:spPr>
          <a:xfrm>
            <a:off x="9006840" y="1874520"/>
            <a:ext cx="2724912" cy="3657600"/>
          </a:xfrm>
          <a:prstGeom prst="roundRect">
            <a:avLst>
              <a:gd fmla="val 2685" name="adj"/>
            </a:avLst>
          </a:prstGeom>
          <a:solidFill>
            <a:srgbClr val="D8E6F7"/>
          </a:solidFill>
          <a:ln cap="flat" cmpd="sng" w="15875">
            <a:solidFill>
              <a:srgbClr val="1B2A4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9153144" y="1737360"/>
            <a:ext cx="1722730" cy="274320"/>
          </a:xfrm>
          <a:prstGeom prst="roundRect">
            <a:avLst>
              <a:gd fmla="val 50000" name="adj"/>
            </a:avLst>
          </a:prstGeom>
          <a:solidFill>
            <a:srgbClr val="1B4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9153144" y="1737360"/>
            <a:ext cx="1722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MERIDIAN'S AWS VPC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9189720" y="3154680"/>
            <a:ext cx="2377440" cy="2194560"/>
          </a:xfrm>
          <a:prstGeom prst="roundRect">
            <a:avLst>
              <a:gd fmla="val 3333" name="adj"/>
            </a:avLst>
          </a:prstGeom>
          <a:solidFill>
            <a:srgbClr val="E9F1FB"/>
          </a:solidFill>
          <a:ln cap="flat" cmpd="sng" w="15875">
            <a:solidFill>
              <a:srgbClr val="1B2A4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9336024" y="3017520"/>
            <a:ext cx="1400861" cy="274320"/>
          </a:xfrm>
          <a:prstGeom prst="roundRect">
            <a:avLst>
              <a:gd fmla="val 50000" name="adj"/>
            </a:avLst>
          </a:prstGeom>
          <a:solidFill>
            <a:srgbClr val="3A6A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9336024" y="3017520"/>
            <a:ext cx="140086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PRIVATE SUBNET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9646920" y="3429000"/>
            <a:ext cx="502920" cy="502920"/>
          </a:xfrm>
          <a:prstGeom prst="can">
            <a:avLst>
              <a:gd fmla="val 25000" name="adj"/>
            </a:avLst>
          </a:prstGeom>
          <a:solidFill>
            <a:srgbClr val="1B4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9189720" y="396849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RDS Postgres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9281160" y="4315968"/>
            <a:ext cx="219456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9427464" y="4389120"/>
            <a:ext cx="1901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Internal APIs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9427464" y="4663440"/>
            <a:ext cx="19019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market data 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legacy route inventory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15"/>
          <p:cNvCxnSpPr/>
          <p:nvPr/>
        </p:nvCxnSpPr>
        <p:spPr>
          <a:xfrm>
            <a:off x="8686800" y="3337560"/>
            <a:ext cx="320040" cy="18288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5" name="Google Shape;475;p15"/>
          <p:cNvCxnSpPr/>
          <p:nvPr/>
        </p:nvCxnSpPr>
        <p:spPr>
          <a:xfrm>
            <a:off x="4411980" y="5532120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15"/>
          <p:cNvCxnSpPr/>
          <p:nvPr/>
        </p:nvCxnSpPr>
        <p:spPr>
          <a:xfrm>
            <a:off x="4411980" y="5742432"/>
            <a:ext cx="555498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15"/>
          <p:cNvCxnSpPr/>
          <p:nvPr/>
        </p:nvCxnSpPr>
        <p:spPr>
          <a:xfrm rot="10800000">
            <a:off x="9966960" y="5532120"/>
            <a:ext cx="0" cy="210312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8" name="Google Shape;478;p15"/>
          <p:cNvSpPr/>
          <p:nvPr/>
        </p:nvSpPr>
        <p:spPr>
          <a:xfrm>
            <a:off x="6382512" y="2980944"/>
            <a:ext cx="256032" cy="256032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50800" rotWithShape="0" algn="bl" dir="5400000" dist="127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6382512" y="298094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8558784" y="2386584"/>
            <a:ext cx="256032" cy="256032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50800" rotWithShape="0" algn="bl" dir="5400000" dist="127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8558784" y="23865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8723376" y="3300984"/>
            <a:ext cx="256032" cy="256032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50800" rotWithShape="0" algn="bl" dir="5400000" dist="127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8723376" y="33009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7059168" y="5614416"/>
            <a:ext cx="256032" cy="256032"/>
          </a:xfrm>
          <a:prstGeom prst="ellipse">
            <a:avLst/>
          </a:prstGeom>
          <a:solidFill>
            <a:srgbClr val="1B2A4A"/>
          </a:solidFill>
          <a:ln>
            <a:noFill/>
          </a:ln>
          <a:effectLst>
            <a:outerShdw blurRad="50800" rotWithShape="0" algn="bl" dir="5400000" dist="127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7059168" y="56144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15"/>
          <p:cNvCxnSpPr/>
          <p:nvPr/>
        </p:nvCxnSpPr>
        <p:spPr>
          <a:xfrm>
            <a:off x="457200" y="603504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15"/>
          <p:cNvSpPr/>
          <p:nvPr/>
        </p:nvSpPr>
        <p:spPr>
          <a:xfrm>
            <a:off x="868680" y="590702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live path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8" name="Google Shape;488;p15"/>
          <p:cNvCxnSpPr/>
          <p:nvPr/>
        </p:nvCxnSpPr>
        <p:spPr>
          <a:xfrm>
            <a:off x="1965960" y="6035040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6B7A9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89" name="Google Shape;489;p15"/>
          <p:cNvSpPr/>
          <p:nvPr/>
        </p:nvSpPr>
        <p:spPr>
          <a:xfrm>
            <a:off x="2377440" y="590702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fallback / peering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4663440" y="5888736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9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Numbered steps mirror the 5-step OIDC walk (slide 7): token → trust exchange → dynamic credential → private network path.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MERIDIAN CAPITAL  ·  VERCEL SOLUTION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7B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